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916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8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技术提升一：节点匹配算法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868680"/>
            <a:ext cx="5074920" cy="544068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69848"/>
            <a:ext cx="457200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Before：分块匹配算法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618488"/>
            <a:ext cx="457200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按分块逐块对应，块一错则全错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67128"/>
            <a:ext cx="46177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2104" y="2249424"/>
            <a:ext cx="1847088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6696" y="2377440"/>
            <a:ext cx="1005840" cy="9144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6696" y="2560320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6696" y="2779776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6" y="2999232"/>
            <a:ext cx="1517904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06424" y="3108960"/>
            <a:ext cx="731520" cy="10058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06424" y="3273552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06424" y="3419856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3621024"/>
            <a:ext cx="164592" cy="164592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34440" y="3648456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3840480"/>
            <a:ext cx="164592" cy="164592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234440" y="3867912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52728" y="4041648"/>
            <a:ext cx="914400" cy="146304"/>
          </a:xfrm>
          <a:prstGeom prst="roundRect">
            <a:avLst>
              <a:gd name="adj" fmla="val 35000"/>
            </a:avLst>
          </a:prstGeom>
          <a:solidFill>
            <a:srgbClr val="E6F1FB"/>
          </a:solidFill>
          <a:ln w="9525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93008" y="2249424"/>
            <a:ext cx="1847088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12464" y="2377440"/>
            <a:ext cx="1005840" cy="9144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12464" y="2560320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712464" y="2779776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12464" y="2999232"/>
            <a:ext cx="1517904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2192" y="3108960"/>
            <a:ext cx="731520" cy="10058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2192" y="3273552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2192" y="3419856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12464" y="3621024"/>
            <a:ext cx="164592" cy="164592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50208" y="3648456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12464" y="3840480"/>
            <a:ext cx="164592" cy="164592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50208" y="3867912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968496" y="4041648"/>
            <a:ext cx="914400" cy="146304"/>
          </a:xfrm>
          <a:prstGeom prst="roundRect">
            <a:avLst>
              <a:gd name="adj" fmla="val 35000"/>
            </a:avLst>
          </a:prstGeom>
          <a:solidFill>
            <a:srgbClr val="E6F1FB"/>
          </a:solidFill>
          <a:ln w="9525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923544" y="2944368"/>
            <a:ext cx="1664208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" y="3584448"/>
            <a:ext cx="1664208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584448" y="2944368"/>
            <a:ext cx="1664208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84448" y="3584448"/>
            <a:ext cx="1664208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11096" y="2642616"/>
            <a:ext cx="1801368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36776" y="2834640"/>
            <a:ext cx="2075688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599" y="3273552"/>
            <a:ext cx="1435609" cy="429768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837944" y="3159252"/>
            <a:ext cx="2112264" cy="763524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57400" y="3273552"/>
            <a:ext cx="1655064" cy="429768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57400" y="3159252"/>
            <a:ext cx="1764792" cy="763524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67128" y="3465576"/>
            <a:ext cx="1655064" cy="649224"/>
          </a:xfrm>
          <a:prstGeom prst="line">
            <a:avLst/>
          </a:prstGeom>
          <a:ln w="15240">
            <a:solidFill>
              <a:srgbClr val="FF4D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7240" y="4398264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分块错位配对后，错配块内所有节点连线全部交叉——整体准确率断崖式下降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4818888"/>
            <a:ext cx="274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1288" y="4837176"/>
            <a:ext cx="4206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依赖分块结果，块配错则块内节点全部错配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5294376"/>
            <a:ext cx="274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1288" y="5312664"/>
            <a:ext cx="4206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错误沿块传播，局部失败连坐整体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5769864"/>
            <a:ext cx="274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1288" y="5788152"/>
            <a:ext cx="4206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整体准确率断崖式下降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88152" y="3337560"/>
            <a:ext cx="621792" cy="4572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565392" y="868680"/>
            <a:ext cx="5074920" cy="544068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1424" y="1069848"/>
            <a:ext cx="457200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After：可信文本锚点 + 兜底匹配（当前）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21424" y="1618488"/>
            <a:ext cx="457200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锚点驱动 + 相对位置 + 兜底，准确率大大提高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793992" y="2167128"/>
            <a:ext cx="46177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848856" y="2249424"/>
            <a:ext cx="1847088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13448" y="2377440"/>
            <a:ext cx="1005840" cy="9144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013448" y="2560320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013448" y="2779776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013448" y="2999232"/>
            <a:ext cx="1517904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123176" y="3108960"/>
            <a:ext cx="731520" cy="10058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3176" y="3273552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123176" y="3419856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013448" y="3621024"/>
            <a:ext cx="164592" cy="164592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251192" y="3648456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13448" y="3840480"/>
            <a:ext cx="164592" cy="164592"/>
          </a:xfrm>
          <a:prstGeom prst="ellipse">
            <a:avLst/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251192" y="3867912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69480" y="4041648"/>
            <a:ext cx="914400" cy="146304"/>
          </a:xfrm>
          <a:prstGeom prst="roundRect">
            <a:avLst>
              <a:gd name="adj" fmla="val 35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509760" y="2249424"/>
            <a:ext cx="1847088" cy="19933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729216" y="2377440"/>
            <a:ext cx="1005840" cy="9144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729216" y="2560320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729216" y="2779776"/>
            <a:ext cx="640080" cy="109728"/>
          </a:xfrm>
          <a:prstGeom prst="roundRect">
            <a:avLst>
              <a:gd name="adj" fmla="val 50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729216" y="2999232"/>
            <a:ext cx="1517904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838944" y="3108960"/>
            <a:ext cx="731520" cy="10058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838944" y="3273552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838944" y="3419856"/>
            <a:ext cx="1005840" cy="91440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729216" y="3621024"/>
            <a:ext cx="164592" cy="164592"/>
          </a:xfrm>
          <a:prstGeom prst="ellipse">
            <a:avLst/>
          </a:prstGeom>
          <a:solidFill>
            <a:srgbClr val="D5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966960" y="3648456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729216" y="3840480"/>
            <a:ext cx="164592" cy="164592"/>
          </a:xfrm>
          <a:prstGeom prst="ellipse">
            <a:avLst/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966960" y="3867912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9525">
            <a:solidFill>
              <a:srgbClr val="777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985248" y="4041648"/>
            <a:ext cx="914400" cy="146304"/>
          </a:xfrm>
          <a:prstGeom prst="roundRect">
            <a:avLst>
              <a:gd name="adj" fmla="val 35000"/>
            </a:avLst>
          </a:prstGeom>
          <a:solidFill>
            <a:srgbClr val="F6FFF6"/>
          </a:solidFill>
          <a:ln w="9525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7927848" y="2642616"/>
            <a:ext cx="1801368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8709660" y="2523744"/>
            <a:ext cx="237744" cy="237744"/>
          </a:xfrm>
          <a:prstGeom prst="ellipse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7653528" y="2834640"/>
            <a:ext cx="2075688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8572500" y="2715768"/>
            <a:ext cx="237744" cy="237744"/>
          </a:xfrm>
          <a:prstGeom prst="ellipse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8183880" y="4114800"/>
            <a:ext cx="1801368" cy="0"/>
          </a:xfrm>
          <a:prstGeom prst="line">
            <a:avLst/>
          </a:prstGeom>
          <a:ln w="19050">
            <a:solidFill>
              <a:srgbClr val="52C4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8965692" y="3995928"/>
            <a:ext cx="237744" cy="237744"/>
          </a:xfrm>
          <a:prstGeom prst="ellipse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8531351" y="3273552"/>
            <a:ext cx="1197865" cy="0"/>
          </a:xfrm>
          <a:prstGeom prst="line">
            <a:avLst/>
          </a:prstGeom>
          <a:ln w="12700">
            <a:solidFill>
              <a:srgbClr val="0067D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854696" y="3159252"/>
            <a:ext cx="1984248" cy="0"/>
          </a:xfrm>
          <a:prstGeom prst="line">
            <a:avLst/>
          </a:prstGeom>
          <a:ln w="12700">
            <a:solidFill>
              <a:srgbClr val="0067D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8074152" y="3703320"/>
            <a:ext cx="1892808" cy="0"/>
          </a:xfrm>
          <a:prstGeom prst="line">
            <a:avLst/>
          </a:prstGeom>
          <a:ln w="12700">
            <a:solidFill>
              <a:srgbClr val="0067D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074152" y="3922776"/>
            <a:ext cx="1892808" cy="0"/>
          </a:xfrm>
          <a:prstGeom prst="line">
            <a:avLst/>
          </a:prstGeom>
          <a:ln w="9525">
            <a:solidFill>
              <a:srgbClr val="77777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837676" y="3739896"/>
            <a:ext cx="36576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93992" y="4398264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绿实线=可信文本锚点先锁定，蓝虚线=周边节点按相对位置挂靠，灰 ×=失败不扩散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85432" y="4818888"/>
            <a:ext cx="274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78040" y="4837176"/>
            <a:ext cx="4206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高置信文本锚点优先锁定（Pass 1）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85432" y="5294376"/>
            <a:ext cx="274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78040" y="5312664"/>
            <a:ext cx="4206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周边节点按相对位置挂靠（Pass 3）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85432" y="5769864"/>
            <a:ext cx="2743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78040" y="5788152"/>
            <a:ext cx="4206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单点失败不扩散，区域兜底保底（Pass 4）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"/>
            <a:ext cx="1109167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技术提升二：容器节点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658368"/>
            <a:ext cx="5074920" cy="237744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758952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Before：多层节点直接取值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同一位置多层节点，效果叠加、取值失真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99616"/>
            <a:ext cx="46177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33272" y="1645920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E6F1FB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79576" y="1746504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25880" y="1847088"/>
            <a:ext cx="1600200" cy="566928"/>
          </a:xfrm>
          <a:prstGeom prst="roundRect">
            <a:avLst>
              <a:gd name="adj" fmla="val 8000"/>
            </a:avLst>
          </a:prstGeom>
          <a:solidFill>
            <a:srgbClr val="F6FFF6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700784"/>
            <a:ext cx="128016" cy="128016"/>
          </a:xfrm>
          <a:prstGeom prst="rect">
            <a:avLst/>
          </a:prstGeom>
          <a:solidFill>
            <a:srgbClr val="E6F1FB"/>
          </a:solidFill>
          <a:ln w="9525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636776"/>
            <a:ext cx="1737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背景色层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947672"/>
            <a:ext cx="128016" cy="128016"/>
          </a:xfrm>
          <a:prstGeom prst="rect">
            <a:avLst/>
          </a:prstGeom>
          <a:solidFill>
            <a:srgbClr val="FFF7E6"/>
          </a:solidFill>
          <a:ln w="9525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2152" y="1883664"/>
            <a:ext cx="1737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圆角层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2194560"/>
            <a:ext cx="128016" cy="128016"/>
          </a:xfrm>
          <a:prstGeom prst="rect">
            <a:avLst/>
          </a:prstGeom>
          <a:solidFill>
            <a:srgbClr val="F6FFF6"/>
          </a:solidFill>
          <a:ln w="9525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2130552"/>
            <a:ext cx="1737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边框层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同一位置多层节点叠加，样式分散、取值易失真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15584" y="1664208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658368"/>
            <a:ext cx="5074920" cy="237744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1424" y="758952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After：智能合并（当前）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1097280"/>
            <a:ext cx="45720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同位置多层智能合并为 1 个节点，取值更准确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93992" y="1499616"/>
            <a:ext cx="46177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1636776"/>
            <a:ext cx="841248" cy="2377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背景色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09560" y="1677924"/>
            <a:ext cx="329184" cy="15544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95160" y="1920239"/>
            <a:ext cx="841248" cy="2377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圆角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9560" y="1961388"/>
            <a:ext cx="329184" cy="15544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95160" y="2203704"/>
            <a:ext cx="841248" cy="2377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50" b="0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边框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09560" y="2244852"/>
            <a:ext cx="329184" cy="15544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66760" y="1719072"/>
            <a:ext cx="1645920" cy="658368"/>
          </a:xfrm>
          <a:prstGeom prst="roundRect">
            <a:avLst>
              <a:gd name="adj" fmla="val 18000"/>
            </a:avLst>
          </a:prstGeom>
          <a:solidFill>
            <a:srgbClr val="E6F1FB"/>
          </a:solidFill>
          <a:ln w="12700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合并节点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8712" y="1655064"/>
            <a:ext cx="10515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背景色 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68712" y="1901952"/>
            <a:ext cx="10515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圆角 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8712" y="2148840"/>
            <a:ext cx="10515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边框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633472"/>
            <a:ext cx="46177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智能合并为 1 个节点，取值即最终视觉效果，比对误报更少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246120"/>
            <a:ext cx="82296" cy="274320"/>
          </a:xfrm>
          <a:prstGeom prst="rect">
            <a:avLst/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3200400"/>
            <a:ext cx="82296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前后案例对比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584448"/>
            <a:ext cx="5074920" cy="2697480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3685032"/>
            <a:ext cx="45720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提升前案例（多层取值）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087368"/>
            <a:ext cx="4617720" cy="2057400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提升前案例截图占位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815584" y="4754880"/>
            <a:ext cx="566928" cy="3657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006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65392" y="3584448"/>
            <a:ext cx="5074920" cy="2697480"/>
          </a:xfrm>
          <a:prstGeom prst="roundRect">
            <a:avLst>
              <a:gd name="adj" fmla="val 6000"/>
            </a:avLst>
          </a:prstGeom>
          <a:solidFill>
            <a:srgbClr val="F6FFF6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685032"/>
            <a:ext cx="45720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2C41A"/>
                </a:solidFill>
                <a:latin typeface="Microsoft YaHei"/>
                <a:ea typeface="Microsoft YaHei"/>
                <a:cs typeface="Microsoft YaHei"/>
              </a:rPr>
              <a:t>提升后案例（智能合并）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93992" y="4087368"/>
            <a:ext cx="4617720" cy="2057400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提升后案例截图占位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"/>
            <a:ext cx="110916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Badcase 分析（准确率 &lt; 70%）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7" y="868680"/>
            <a:ext cx="35661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799" y="978408"/>
            <a:ext cx="3236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Badcase 1（准确率 ？%）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799" y="1289304"/>
            <a:ext cx="1563624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开发侧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799" y="1490472"/>
            <a:ext cx="1563624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9150" y="1289304"/>
            <a:ext cx="1563624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设计侧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9150" y="1490472"/>
            <a:ext cx="1563624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3575304"/>
            <a:ext cx="3236976" cy="38404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链接：（待填写）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868680"/>
            <a:ext cx="35661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978408"/>
            <a:ext cx="3236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Badcase 2（准确率 ？%）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289304"/>
            <a:ext cx="1563624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开发侧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490472"/>
            <a:ext cx="1563624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1" y="1289304"/>
            <a:ext cx="1563624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设计侧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1" y="1490472"/>
            <a:ext cx="1563624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575304"/>
            <a:ext cx="3236976" cy="38404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链接：（待填写）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0727" y="868680"/>
            <a:ext cx="356616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978408"/>
            <a:ext cx="32369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Badcase 3（准确率 ？%）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1289304"/>
            <a:ext cx="1563624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开发侧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19" y="1490472"/>
            <a:ext cx="1563624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0" y="1289304"/>
            <a:ext cx="1563624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设计侧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48670" y="1490472"/>
            <a:ext cx="1563624" cy="1993392"/>
          </a:xfrm>
          <a:prstGeom prst="rect">
            <a:avLst/>
          </a:prstGeom>
          <a:solidFill>
            <a:srgbClr val="F5F5F5"/>
          </a:solidFill>
          <a:ln w="12700">
            <a:solidFill>
              <a:srgbClr val="D1D5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图片占位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19" y="3575304"/>
            <a:ext cx="3236976" cy="384048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D1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链接：（待填写）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15968"/>
            <a:ext cx="5532120" cy="2084831"/>
          </a:xfrm>
          <a:prstGeom prst="roundRect">
            <a:avLst>
              <a:gd name="adj" fmla="val 6000"/>
            </a:avLst>
          </a:prstGeom>
          <a:solidFill>
            <a:srgbClr val="FFF1F0"/>
          </a:solidFill>
          <a:ln w="12700">
            <a:solidFill>
              <a:srgbClr val="FF4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62272"/>
            <a:ext cx="4983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4D4F"/>
                </a:solidFill>
                <a:latin typeface="Microsoft YaHei"/>
                <a:ea typeface="Microsoft YaHei"/>
                <a:cs typeface="Microsoft YaHei"/>
              </a:rPr>
              <a:t>整体 Bad 原因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82896"/>
            <a:ext cx="4983480" cy="13350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（待填写）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4315968"/>
            <a:ext cx="5486400" cy="2084831"/>
          </a:xfrm>
          <a:prstGeom prst="roundRect">
            <a:avLst>
              <a:gd name="adj" fmla="val 6000"/>
            </a:avLst>
          </a:prstGeom>
          <a:solidFill>
            <a:srgbClr val="E6F1FB"/>
          </a:solidFill>
          <a:ln w="12700">
            <a:solidFill>
              <a:srgbClr val="0067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46227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67D1"/>
                </a:solidFill>
                <a:latin typeface="Microsoft YaHei"/>
                <a:ea typeface="Microsoft YaHei"/>
                <a:cs typeface="Microsoft YaHei"/>
              </a:rPr>
              <a:t>整体改进方向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4882896"/>
            <a:ext cx="4937760" cy="13350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rPr>
              <a:t>（待填写）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