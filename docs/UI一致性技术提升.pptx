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11091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0067D1"/>
                </a:solidFill>
                <a:latin typeface="Microsoft YaHei"/>
                <a:ea typeface="Microsoft YaHei"/>
                <a:cs typeface="Microsoft YaHei"/>
              </a:rPr>
              <a:t>技术提升一：节点匹配算法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658368"/>
            <a:ext cx="5074920" cy="2377440"/>
          </a:xfrm>
          <a:prstGeom prst="roundRect">
            <a:avLst>
              <a:gd name="adj" fmla="val 6000"/>
            </a:avLst>
          </a:prstGeom>
          <a:solidFill>
            <a:srgbClr val="FFF1F0"/>
          </a:solidFill>
          <a:ln w="12700">
            <a:solidFill>
              <a:srgbClr val="FF4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758952"/>
            <a:ext cx="45720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4D4F"/>
                </a:solidFill>
                <a:latin typeface="Microsoft YaHei"/>
                <a:ea typeface="Microsoft YaHei"/>
                <a:cs typeface="Microsoft YaHei"/>
              </a:rPr>
              <a:t>Before：分块匹配算法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97280"/>
            <a:ext cx="45720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按分块逐块对应，块一错则全错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99616"/>
            <a:ext cx="46177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1540764"/>
            <a:ext cx="923544" cy="996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1832" y="1604772"/>
            <a:ext cx="502920" cy="457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1696212"/>
            <a:ext cx="457200" cy="82296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180594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1832" y="1915668"/>
            <a:ext cx="758952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6" y="1970532"/>
            <a:ext cx="365760" cy="50292"/>
          </a:xfrm>
          <a:prstGeom prst="roundRect">
            <a:avLst>
              <a:gd name="adj" fmla="val 50000"/>
            </a:avLst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6696" y="2052828"/>
            <a:ext cx="548640" cy="45720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696" y="2125980"/>
            <a:ext cx="502920" cy="45720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832" y="2226564"/>
            <a:ext cx="82296" cy="82296"/>
          </a:xfrm>
          <a:prstGeom prst="ellipse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60704" y="224028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" y="2336292"/>
            <a:ext cx="82296" cy="82296"/>
          </a:xfrm>
          <a:prstGeom prst="ellipse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0704" y="2350008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69848" y="2436876"/>
            <a:ext cx="457200" cy="73152"/>
          </a:xfrm>
          <a:prstGeom prst="roundRect">
            <a:avLst>
              <a:gd name="adj" fmla="val 35000"/>
            </a:avLst>
          </a:prstGeom>
          <a:solidFill>
            <a:srgbClr val="E6F1FB"/>
          </a:solidFill>
          <a:ln w="9525">
            <a:solidFill>
              <a:srgbClr val="006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5968" y="1540764"/>
            <a:ext cx="923544" cy="996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25696" y="1604772"/>
            <a:ext cx="502920" cy="457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1696212"/>
            <a:ext cx="457200" cy="82296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25696" y="180594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25696" y="1915668"/>
            <a:ext cx="758952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0560" y="1970532"/>
            <a:ext cx="365760" cy="50292"/>
          </a:xfrm>
          <a:prstGeom prst="roundRect">
            <a:avLst>
              <a:gd name="adj" fmla="val 50000"/>
            </a:avLst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80560" y="2052828"/>
            <a:ext cx="548640" cy="45720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60" y="2125980"/>
            <a:ext cx="502920" cy="45720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25696" y="2226564"/>
            <a:ext cx="82296" cy="82296"/>
          </a:xfrm>
          <a:prstGeom prst="ellipse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44568" y="224028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25696" y="2336292"/>
            <a:ext cx="82296" cy="82296"/>
          </a:xfrm>
          <a:prstGeom prst="ellipse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44568" y="2350008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53712" y="2436876"/>
            <a:ext cx="457200" cy="73152"/>
          </a:xfrm>
          <a:prstGeom prst="roundRect">
            <a:avLst>
              <a:gd name="adj" fmla="val 35000"/>
            </a:avLst>
          </a:prstGeom>
          <a:solidFill>
            <a:srgbClr val="E6F1FB"/>
          </a:solidFill>
          <a:ln w="9525">
            <a:solidFill>
              <a:srgbClr val="006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05256" y="1888236"/>
            <a:ext cx="832104" cy="0"/>
          </a:xfrm>
          <a:prstGeom prst="line">
            <a:avLst/>
          </a:prstGeom>
          <a:ln w="9525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5256" y="2208276"/>
            <a:ext cx="832104" cy="0"/>
          </a:xfrm>
          <a:prstGeom prst="line">
            <a:avLst/>
          </a:prstGeom>
          <a:ln w="9525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361688" y="1888236"/>
            <a:ext cx="832104" cy="0"/>
          </a:xfrm>
          <a:prstGeom prst="line">
            <a:avLst/>
          </a:prstGeom>
          <a:ln w="9525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361688" y="2208276"/>
            <a:ext cx="832104" cy="0"/>
          </a:xfrm>
          <a:prstGeom prst="line">
            <a:avLst/>
          </a:prstGeom>
          <a:ln w="9525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99032" y="1737360"/>
            <a:ext cx="3026664" cy="0"/>
          </a:xfrm>
          <a:prstGeom prst="line">
            <a:avLst/>
          </a:prstGeom>
          <a:ln w="19050">
            <a:solidFill>
              <a:srgbClr val="52C4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61872" y="1833372"/>
            <a:ext cx="3163824" cy="0"/>
          </a:xfrm>
          <a:prstGeom prst="line">
            <a:avLst/>
          </a:prstGeom>
          <a:ln w="19050">
            <a:solidFill>
              <a:srgbClr val="52C4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700783" y="2052828"/>
            <a:ext cx="2843785" cy="214884"/>
          </a:xfrm>
          <a:prstGeom prst="line">
            <a:avLst/>
          </a:prstGeom>
          <a:ln w="15240">
            <a:solidFill>
              <a:srgbClr val="FF4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362456" y="1995678"/>
            <a:ext cx="3182112" cy="381762"/>
          </a:xfrm>
          <a:prstGeom prst="line">
            <a:avLst/>
          </a:prstGeom>
          <a:ln w="15240">
            <a:solidFill>
              <a:srgbClr val="FF4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472184" y="2052828"/>
            <a:ext cx="2953512" cy="214884"/>
          </a:xfrm>
          <a:prstGeom prst="line">
            <a:avLst/>
          </a:prstGeom>
          <a:ln w="15240">
            <a:solidFill>
              <a:srgbClr val="FF4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472184" y="1995678"/>
            <a:ext cx="3008376" cy="381762"/>
          </a:xfrm>
          <a:prstGeom prst="line">
            <a:avLst/>
          </a:prstGeom>
          <a:ln w="15240">
            <a:solidFill>
              <a:srgbClr val="FF4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527048" y="2148840"/>
            <a:ext cx="2953512" cy="324612"/>
          </a:xfrm>
          <a:prstGeom prst="line">
            <a:avLst/>
          </a:prstGeom>
          <a:ln w="15240">
            <a:solidFill>
              <a:srgbClr val="FF4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7240" y="2633472"/>
            <a:ext cx="46177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分块错位配对后，错配块内所有节点连线全部交叉——整体准确率断崖式下降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815584" y="1664208"/>
            <a:ext cx="566928" cy="3657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06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65392" y="658368"/>
            <a:ext cx="5074920" cy="2377440"/>
          </a:xfrm>
          <a:prstGeom prst="roundRect">
            <a:avLst>
              <a:gd name="adj" fmla="val 6000"/>
            </a:avLst>
          </a:prstGeom>
          <a:solidFill>
            <a:srgbClr val="F6FFF6"/>
          </a:solidFill>
          <a:ln w="1270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21424" y="758952"/>
            <a:ext cx="45720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52C41A"/>
                </a:solidFill>
                <a:latin typeface="Microsoft YaHei"/>
                <a:ea typeface="Microsoft YaHei"/>
                <a:cs typeface="Microsoft YaHei"/>
              </a:rPr>
              <a:t>After：可信文本锚点 + 兜底匹配（当前）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1424" y="1097280"/>
            <a:ext cx="45720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锚点驱动 + 相对位置 + 兜底，准确率大大提高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93992" y="1499616"/>
            <a:ext cx="46177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876288" y="1540764"/>
            <a:ext cx="923544" cy="996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58584" y="1604772"/>
            <a:ext cx="502920" cy="457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958584" y="1696212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6FFF6"/>
          </a:solidFill>
          <a:ln w="9525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958584" y="180594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F6FFF6"/>
          </a:solidFill>
          <a:ln w="9525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958584" y="1915668"/>
            <a:ext cx="758952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013448" y="1970532"/>
            <a:ext cx="365760" cy="50292"/>
          </a:xfrm>
          <a:prstGeom prst="roundRect">
            <a:avLst>
              <a:gd name="adj" fmla="val 50000"/>
            </a:avLst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013448" y="2052828"/>
            <a:ext cx="548640" cy="45720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013448" y="2125980"/>
            <a:ext cx="502920" cy="45720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958584" y="2226564"/>
            <a:ext cx="82296" cy="82296"/>
          </a:xfrm>
          <a:prstGeom prst="ellipse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077456" y="224028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958584" y="2336292"/>
            <a:ext cx="82296" cy="82296"/>
          </a:xfrm>
          <a:prstGeom prst="ellipse">
            <a:avLst/>
          </a:prstGeom>
          <a:solidFill>
            <a:srgbClr val="F5F5F5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077456" y="2350008"/>
            <a:ext cx="411480" cy="54864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086600" y="2436876"/>
            <a:ext cx="457200" cy="73152"/>
          </a:xfrm>
          <a:prstGeom prst="roundRect">
            <a:avLst>
              <a:gd name="adj" fmla="val 35000"/>
            </a:avLst>
          </a:prstGeom>
          <a:solidFill>
            <a:srgbClr val="F6FFF6"/>
          </a:solidFill>
          <a:ln w="9525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332720" y="1540764"/>
            <a:ext cx="923544" cy="9966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442448" y="1604772"/>
            <a:ext cx="502920" cy="457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442448" y="1696212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6FFF6"/>
          </a:solidFill>
          <a:ln w="9525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442448" y="180594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F6FFF6"/>
          </a:solidFill>
          <a:ln w="9525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442448" y="1915668"/>
            <a:ext cx="758952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497312" y="1970532"/>
            <a:ext cx="365760" cy="50292"/>
          </a:xfrm>
          <a:prstGeom prst="roundRect">
            <a:avLst>
              <a:gd name="adj" fmla="val 50000"/>
            </a:avLst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497312" y="2052828"/>
            <a:ext cx="548640" cy="45720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497312" y="2125980"/>
            <a:ext cx="502920" cy="45720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442448" y="2226564"/>
            <a:ext cx="82296" cy="82296"/>
          </a:xfrm>
          <a:prstGeom prst="ellipse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61320" y="2240280"/>
            <a:ext cx="411480" cy="5486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442448" y="2336292"/>
            <a:ext cx="82296" cy="82296"/>
          </a:xfrm>
          <a:prstGeom prst="ellipse">
            <a:avLst/>
          </a:prstGeom>
          <a:solidFill>
            <a:srgbClr val="F5F5F5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561320" y="2350008"/>
            <a:ext cx="411480" cy="54864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570464" y="2436876"/>
            <a:ext cx="457200" cy="73152"/>
          </a:xfrm>
          <a:prstGeom prst="roundRect">
            <a:avLst>
              <a:gd name="adj" fmla="val 35000"/>
            </a:avLst>
          </a:prstGeom>
          <a:solidFill>
            <a:srgbClr val="F6FFF6"/>
          </a:solidFill>
          <a:ln w="9525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7415784" y="1737360"/>
            <a:ext cx="3026664" cy="0"/>
          </a:xfrm>
          <a:prstGeom prst="line">
            <a:avLst/>
          </a:prstGeom>
          <a:ln w="19050">
            <a:solidFill>
              <a:srgbClr val="52C4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869680" y="1677924"/>
            <a:ext cx="118872" cy="118872"/>
          </a:xfrm>
          <a:prstGeom prst="ellipse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7278624" y="1833372"/>
            <a:ext cx="3163824" cy="0"/>
          </a:xfrm>
          <a:prstGeom prst="line">
            <a:avLst/>
          </a:prstGeom>
          <a:ln w="19050">
            <a:solidFill>
              <a:srgbClr val="52C4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8801100" y="1773936"/>
            <a:ext cx="118872" cy="118872"/>
          </a:xfrm>
          <a:prstGeom prst="ellipse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7543800" y="2473452"/>
            <a:ext cx="3026664" cy="0"/>
          </a:xfrm>
          <a:prstGeom prst="line">
            <a:avLst/>
          </a:prstGeom>
          <a:ln w="19050">
            <a:solidFill>
              <a:srgbClr val="52C4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8997696" y="2414016"/>
            <a:ext cx="118872" cy="118872"/>
          </a:xfrm>
          <a:prstGeom prst="ellipse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7717535" y="2052828"/>
            <a:ext cx="2724913" cy="0"/>
          </a:xfrm>
          <a:prstGeom prst="line">
            <a:avLst/>
          </a:prstGeom>
          <a:ln w="12700">
            <a:solidFill>
              <a:srgbClr val="0067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379208" y="1995678"/>
            <a:ext cx="3118104" cy="0"/>
          </a:xfrm>
          <a:prstGeom prst="line">
            <a:avLst/>
          </a:prstGeom>
          <a:ln w="12700">
            <a:solidFill>
              <a:srgbClr val="0067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488936" y="2267712"/>
            <a:ext cx="3072384" cy="0"/>
          </a:xfrm>
          <a:prstGeom prst="line">
            <a:avLst/>
          </a:prstGeom>
          <a:ln w="12700">
            <a:solidFill>
              <a:srgbClr val="0067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488936" y="2377440"/>
            <a:ext cx="3072384" cy="0"/>
          </a:xfrm>
          <a:prstGeom prst="line">
            <a:avLst/>
          </a:prstGeom>
          <a:ln w="9525">
            <a:solidFill>
              <a:srgbClr val="777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933688" y="2286000"/>
            <a:ext cx="182880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93992" y="2633472"/>
            <a:ext cx="46177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绿实线=可信文本锚点先锁定，蓝虚线=周边节点按相对位置挂靠，灰 ×=失败不扩散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3246120"/>
            <a:ext cx="82296" cy="274320"/>
          </a:xfrm>
          <a:prstGeom prst="rect">
            <a:avLst/>
          </a:prstGeom>
          <a:solidFill>
            <a:srgbClr val="006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49808" y="3200400"/>
            <a:ext cx="82296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前后案例对比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48640" y="3584448"/>
            <a:ext cx="5074920" cy="2697480"/>
          </a:xfrm>
          <a:prstGeom prst="roundRect">
            <a:avLst>
              <a:gd name="adj" fmla="val 6000"/>
            </a:avLst>
          </a:prstGeom>
          <a:solidFill>
            <a:srgbClr val="FFF1F0"/>
          </a:solidFill>
          <a:ln w="12700">
            <a:solidFill>
              <a:srgbClr val="FF4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4672" y="3685032"/>
            <a:ext cx="45720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4D4F"/>
                </a:solidFill>
                <a:latin typeface="Microsoft YaHei"/>
                <a:ea typeface="Microsoft YaHei"/>
                <a:cs typeface="Microsoft YaHei"/>
              </a:rPr>
              <a:t>提升前案例（分块匹配）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7240" y="4087368"/>
            <a:ext cx="4617720" cy="2057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提升前案例截图占位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5815584" y="4754880"/>
            <a:ext cx="566928" cy="3657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06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6565392" y="3584448"/>
            <a:ext cx="5074920" cy="2697480"/>
          </a:xfrm>
          <a:prstGeom prst="roundRect">
            <a:avLst>
              <a:gd name="adj" fmla="val 6000"/>
            </a:avLst>
          </a:prstGeom>
          <a:solidFill>
            <a:srgbClr val="F6FFF6"/>
          </a:solidFill>
          <a:ln w="1270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21424" y="3685032"/>
            <a:ext cx="45720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2C41A"/>
                </a:solidFill>
                <a:latin typeface="Microsoft YaHei"/>
                <a:ea typeface="Microsoft YaHei"/>
                <a:cs typeface="Microsoft YaHei"/>
              </a:rPr>
              <a:t>提升后案例（当前算法）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93992" y="4087368"/>
            <a:ext cx="4617720" cy="2057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提升后案例截图占位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1109167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0067D1"/>
                </a:solidFill>
                <a:latin typeface="Microsoft YaHei"/>
                <a:ea typeface="Microsoft YaHei"/>
                <a:cs typeface="Microsoft YaHei"/>
              </a:rPr>
              <a:t>技术提升二：容器节点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658368"/>
            <a:ext cx="5074920" cy="2377440"/>
          </a:xfrm>
          <a:prstGeom prst="roundRect">
            <a:avLst>
              <a:gd name="adj" fmla="val 6000"/>
            </a:avLst>
          </a:prstGeom>
          <a:solidFill>
            <a:srgbClr val="FFF1F0"/>
          </a:solidFill>
          <a:ln w="12700">
            <a:solidFill>
              <a:srgbClr val="FF4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758952"/>
            <a:ext cx="45720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4D4F"/>
                </a:solidFill>
                <a:latin typeface="Microsoft YaHei"/>
                <a:ea typeface="Microsoft YaHei"/>
                <a:cs typeface="Microsoft YaHei"/>
              </a:rPr>
              <a:t>Before：多层节点直接取值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097280"/>
            <a:ext cx="45720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同一位置多层节点，效果叠加、取值失真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99616"/>
            <a:ext cx="46177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3272" y="1645920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E6F1FB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79576" y="1746504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1847088"/>
            <a:ext cx="1600200" cy="566928"/>
          </a:xfrm>
          <a:prstGeom prst="roundRect">
            <a:avLst>
              <a:gd name="adj" fmla="val 8000"/>
            </a:avLst>
          </a:prstGeom>
          <a:solidFill>
            <a:srgbClr val="F6FFF6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700784"/>
            <a:ext cx="128016" cy="128016"/>
          </a:xfrm>
          <a:prstGeom prst="rect">
            <a:avLst/>
          </a:prstGeom>
          <a:solidFill>
            <a:srgbClr val="E6F1FB"/>
          </a:solidFill>
          <a:ln w="9525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636776"/>
            <a:ext cx="17373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背景色层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947672"/>
            <a:ext cx="128016" cy="128016"/>
          </a:xfrm>
          <a:prstGeom prst="rect">
            <a:avLst/>
          </a:prstGeom>
          <a:solidFill>
            <a:srgbClr val="FFF7E6"/>
          </a:solidFill>
          <a:ln w="9525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883664"/>
            <a:ext cx="17373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圆角层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194560"/>
            <a:ext cx="128016" cy="128016"/>
          </a:xfrm>
          <a:prstGeom prst="rect">
            <a:avLst/>
          </a:prstGeom>
          <a:solidFill>
            <a:srgbClr val="F6FFF6"/>
          </a:solidFill>
          <a:ln w="9525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2130552"/>
            <a:ext cx="17373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边框层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33472"/>
            <a:ext cx="46177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同一位置多层节点叠加，样式分散、取值易失真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15584" y="1664208"/>
            <a:ext cx="566928" cy="3657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06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65392" y="658368"/>
            <a:ext cx="5074920" cy="2377440"/>
          </a:xfrm>
          <a:prstGeom prst="roundRect">
            <a:avLst>
              <a:gd name="adj" fmla="val 6000"/>
            </a:avLst>
          </a:prstGeom>
          <a:solidFill>
            <a:srgbClr val="F6FFF6"/>
          </a:solidFill>
          <a:ln w="1270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1424" y="758952"/>
            <a:ext cx="45720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52C41A"/>
                </a:solidFill>
                <a:latin typeface="Microsoft YaHei"/>
                <a:ea typeface="Microsoft YaHei"/>
                <a:cs typeface="Microsoft YaHei"/>
              </a:rPr>
              <a:t>After：智能合并（当前）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1097280"/>
            <a:ext cx="45720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同位置多层智能合并为 1 个节点，取值更准确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93992" y="1499616"/>
            <a:ext cx="46177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95160" y="1636776"/>
            <a:ext cx="841248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背景色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09560" y="1677924"/>
            <a:ext cx="329184" cy="15544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06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95160" y="1920239"/>
            <a:ext cx="841248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圆角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09560" y="1961388"/>
            <a:ext cx="329184" cy="15544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06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5160" y="2203704"/>
            <a:ext cx="841248" cy="2377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边框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9560" y="2244852"/>
            <a:ext cx="329184" cy="15544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06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66760" y="1719072"/>
            <a:ext cx="1645920" cy="658368"/>
          </a:xfrm>
          <a:prstGeom prst="roundRect">
            <a:avLst>
              <a:gd name="adj" fmla="val 18000"/>
            </a:avLst>
          </a:prstGeom>
          <a:solidFill>
            <a:srgbClr val="E6F1FB"/>
          </a:solidFill>
          <a:ln w="12700">
            <a:solidFill>
              <a:srgbClr val="006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0067D1"/>
                </a:solidFill>
                <a:latin typeface="Microsoft YaHei"/>
                <a:ea typeface="Microsoft YaHei"/>
                <a:cs typeface="Microsoft YaHei"/>
              </a:rPr>
              <a:t>合并节点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8712" y="1655064"/>
            <a:ext cx="105156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52C41A"/>
                </a:solidFill>
                <a:latin typeface="Microsoft YaHei"/>
                <a:ea typeface="Microsoft YaHei"/>
                <a:cs typeface="Microsoft YaHei"/>
              </a:rPr>
              <a:t>背景色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8712" y="1901952"/>
            <a:ext cx="105156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52C41A"/>
                </a:solidFill>
                <a:latin typeface="Microsoft YaHei"/>
                <a:ea typeface="Microsoft YaHei"/>
                <a:cs typeface="Microsoft YaHei"/>
              </a:rPr>
              <a:t>圆角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8712" y="2148840"/>
            <a:ext cx="105156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52C41A"/>
                </a:solidFill>
                <a:latin typeface="Microsoft YaHei"/>
                <a:ea typeface="Microsoft YaHei"/>
                <a:cs typeface="Microsoft YaHei"/>
              </a:rPr>
              <a:t>边框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3992" y="2633472"/>
            <a:ext cx="46177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智能合并为 1 个节点，取值即最终视觉效果，比对误报更少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246120"/>
            <a:ext cx="82296" cy="274320"/>
          </a:xfrm>
          <a:prstGeom prst="rect">
            <a:avLst/>
          </a:prstGeom>
          <a:solidFill>
            <a:srgbClr val="006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3200400"/>
            <a:ext cx="82296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前后案例对比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584448"/>
            <a:ext cx="5074920" cy="2697480"/>
          </a:xfrm>
          <a:prstGeom prst="roundRect">
            <a:avLst>
              <a:gd name="adj" fmla="val 6000"/>
            </a:avLst>
          </a:prstGeom>
          <a:solidFill>
            <a:srgbClr val="FFF1F0"/>
          </a:solidFill>
          <a:ln w="12700">
            <a:solidFill>
              <a:srgbClr val="FF4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3685032"/>
            <a:ext cx="45720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4D4F"/>
                </a:solidFill>
                <a:latin typeface="Microsoft YaHei"/>
                <a:ea typeface="Microsoft YaHei"/>
                <a:cs typeface="Microsoft YaHei"/>
              </a:rPr>
              <a:t>提升前案例（多层取值）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087368"/>
            <a:ext cx="4617720" cy="2057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提升前案例截图占位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815584" y="4754880"/>
            <a:ext cx="566928" cy="36576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06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65392" y="3584448"/>
            <a:ext cx="5074920" cy="2697480"/>
          </a:xfrm>
          <a:prstGeom prst="roundRect">
            <a:avLst>
              <a:gd name="adj" fmla="val 6000"/>
            </a:avLst>
          </a:prstGeom>
          <a:solidFill>
            <a:srgbClr val="F6FFF6"/>
          </a:solidFill>
          <a:ln w="12700">
            <a:solidFill>
              <a:srgbClr val="52C4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21424" y="3685032"/>
            <a:ext cx="45720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2C41A"/>
                </a:solidFill>
                <a:latin typeface="Microsoft YaHei"/>
                <a:ea typeface="Microsoft YaHei"/>
                <a:cs typeface="Microsoft YaHei"/>
              </a:rPr>
              <a:t>提升后案例（智能合并）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93992" y="4087368"/>
            <a:ext cx="4617720" cy="2057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提升后案例截图占位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1109167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0067D1"/>
                </a:solidFill>
                <a:latin typeface="Microsoft YaHei"/>
                <a:ea typeface="Microsoft YaHei"/>
                <a:cs typeface="Microsoft YaHei"/>
              </a:rPr>
              <a:t>Badcase 分析（准确率 &lt; 70%）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868680"/>
            <a:ext cx="35661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799" y="978408"/>
            <a:ext cx="32369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Badcase 1（准确率 ？%）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799" y="1289304"/>
            <a:ext cx="1563624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开发侧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799" y="1490472"/>
            <a:ext cx="1563624" cy="199339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0" y="1289304"/>
            <a:ext cx="1563624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设计侧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9150" y="1490472"/>
            <a:ext cx="1563624" cy="199339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799" y="3575304"/>
            <a:ext cx="3236976" cy="384048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链接：（待填写）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868680"/>
            <a:ext cx="35661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978408"/>
            <a:ext cx="32369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Badcase 2（准确率 ？%）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289304"/>
            <a:ext cx="1563624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开发侧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490472"/>
            <a:ext cx="1563624" cy="199339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1" y="1289304"/>
            <a:ext cx="1563624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设计侧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1" y="1490472"/>
            <a:ext cx="1563624" cy="199339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575304"/>
            <a:ext cx="3236976" cy="384048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链接：（待填写）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7" y="868680"/>
            <a:ext cx="35661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978408"/>
            <a:ext cx="3236976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Badcase 3（准确率 ？%）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289304"/>
            <a:ext cx="1563624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开发侧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1490472"/>
            <a:ext cx="1563624" cy="199339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0" y="1289304"/>
            <a:ext cx="1563624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设计侧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0" y="1490472"/>
            <a:ext cx="1563624" cy="199339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19" y="3575304"/>
            <a:ext cx="3236976" cy="384048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D1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链接：（待填写）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315968"/>
            <a:ext cx="5532120" cy="2084831"/>
          </a:xfrm>
          <a:prstGeom prst="roundRect">
            <a:avLst>
              <a:gd name="adj" fmla="val 6000"/>
            </a:avLst>
          </a:prstGeom>
          <a:solidFill>
            <a:srgbClr val="FFF1F0"/>
          </a:solidFill>
          <a:ln w="12700">
            <a:solidFill>
              <a:srgbClr val="FF4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62272"/>
            <a:ext cx="4983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4D4F"/>
                </a:solidFill>
                <a:latin typeface="Microsoft YaHei"/>
                <a:ea typeface="Microsoft YaHei"/>
                <a:cs typeface="Microsoft YaHei"/>
              </a:rPr>
              <a:t>整体 Bad 原因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82896"/>
            <a:ext cx="4983480" cy="133502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（待填写）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315968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12700">
            <a:solidFill>
              <a:srgbClr val="0067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46227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067D1"/>
                </a:solidFill>
                <a:latin typeface="Microsoft YaHei"/>
                <a:ea typeface="Microsoft YaHei"/>
                <a:cs typeface="Microsoft YaHei"/>
              </a:rPr>
              <a:t>整体改进方向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882896"/>
            <a:ext cx="4937760" cy="1335023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（待填写）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